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b6fb32c5c44eac" /><Relationship Type="http://schemas.openxmlformats.org/officeDocument/2006/relationships/extended-properties" Target="/docProps/app.xml" Id="R370ecc02e90c4253" /><Relationship Type="http://schemas.openxmlformats.org/officeDocument/2006/relationships/officeDocument" Target="/ppt/presentation.xml" Id="Reda9d8ab977348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48160e55b64506"/>
  </p:sldMasterIdLst>
  <p:notesMasterIdLst>
    <p:notesMasterId xmlns:r="http://schemas.openxmlformats.org/officeDocument/2006/relationships" r:id="Ra2ca257a33b04641"/>
  </p:notesMasterIdLst>
  <p:sldIdLst>
    <p:sldId xmlns:r="http://schemas.openxmlformats.org/officeDocument/2006/relationships" id="256" r:id="Rfc24c154760a454a"/>
    <p:sldId xmlns:r="http://schemas.openxmlformats.org/officeDocument/2006/relationships" id="257" r:id="R5a27e8148aeb420b"/>
    <p:sldId xmlns:r="http://schemas.openxmlformats.org/officeDocument/2006/relationships" id="258" r:id="R2d6c4a2fa97944ae"/>
    <p:sldId xmlns:r="http://schemas.openxmlformats.org/officeDocument/2006/relationships" id="259" r:id="R43cdd485ac6b4881"/>
    <p:sldId xmlns:r="http://schemas.openxmlformats.org/officeDocument/2006/relationships" id="260" r:id="Rb3a7c652e9554e14"/>
    <p:sldId xmlns:r="http://schemas.openxmlformats.org/officeDocument/2006/relationships" id="261" r:id="R11b43620c0334b87"/>
    <p:sldId xmlns:r="http://schemas.openxmlformats.org/officeDocument/2006/relationships" id="262" r:id="R94ba25eb2ea84c39"/>
    <p:sldId xmlns:r="http://schemas.openxmlformats.org/officeDocument/2006/relationships" id="263" r:id="R6cfa9583429046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cd838ec7404009" /><Relationship Type="http://schemas.openxmlformats.org/officeDocument/2006/relationships/slideMaster" Target="/ppt/slideMasters/slideMaster1.xml" Id="R3248160e55b64506" /><Relationship Type="http://schemas.openxmlformats.org/officeDocument/2006/relationships/notesMaster" Target="/ppt/notesMasters/notesMaster1.xml" Id="Ra2ca257a33b04641" /><Relationship Type="http://schemas.openxmlformats.org/officeDocument/2006/relationships/presProps" Target="/ppt/presProps.xml" Id="R886a364abbe54d64" /><Relationship Type="http://schemas.openxmlformats.org/officeDocument/2006/relationships/tableStyles" Target="/ppt/tableStyles.xml" Id="R599646d151614ff7" /><Relationship Type="http://schemas.openxmlformats.org/officeDocument/2006/relationships/slide" Target="/ppt/slides/slide1.xml" Id="Rfc24c154760a454a" /><Relationship Type="http://schemas.openxmlformats.org/officeDocument/2006/relationships/slide" Target="/ppt/slides/slide2.xml" Id="R5a27e8148aeb420b" /><Relationship Type="http://schemas.openxmlformats.org/officeDocument/2006/relationships/slide" Target="/ppt/slides/slide3.xml" Id="R2d6c4a2fa97944ae" /><Relationship Type="http://schemas.openxmlformats.org/officeDocument/2006/relationships/slide" Target="/ppt/slides/slide4.xml" Id="R43cdd485ac6b4881" /><Relationship Type="http://schemas.openxmlformats.org/officeDocument/2006/relationships/slide" Target="/ppt/slides/slide5.xml" Id="Rb3a7c652e9554e14" /><Relationship Type="http://schemas.openxmlformats.org/officeDocument/2006/relationships/slide" Target="/ppt/slides/slide6.xml" Id="R11b43620c0334b87" /><Relationship Type="http://schemas.openxmlformats.org/officeDocument/2006/relationships/slide" Target="/ppt/slides/slide7.xml" Id="R94ba25eb2ea84c39" /><Relationship Type="http://schemas.openxmlformats.org/officeDocument/2006/relationships/slide" Target="/ppt/slides/slide8.xml" Id="R6cfa9583429046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0a4675fb16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35cee017d94d5d" /><Relationship Type="http://schemas.openxmlformats.org/officeDocument/2006/relationships/notesMaster" Target="/ppt/notesMasters/notesMaster1.xml" Id="Rf906f5184c8745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02e481afd849a0" /><Relationship Type="http://schemas.openxmlformats.org/officeDocument/2006/relationships/notesMaster" Target="/ppt/notesMasters/notesMaster1.xml" Id="R2f98eca57ff840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2d491d28594110" /><Relationship Type="http://schemas.openxmlformats.org/officeDocument/2006/relationships/notesMaster" Target="/ppt/notesMasters/notesMaster1.xml" Id="Ra27632516cae4b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c4ab780e640e2" /><Relationship Type="http://schemas.openxmlformats.org/officeDocument/2006/relationships/notesMaster" Target="/ppt/notesMasters/notesMaster1.xml" Id="Raf2231634fe041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5b6187190e4b00" /><Relationship Type="http://schemas.openxmlformats.org/officeDocument/2006/relationships/notesMaster" Target="/ppt/notesMasters/notesMaster1.xml" Id="Ra99be1e15e8046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e175ec2fa24cf4" /><Relationship Type="http://schemas.openxmlformats.org/officeDocument/2006/relationships/notesMaster" Target="/ppt/notesMasters/notesMaster1.xml" Id="R917130e802f64d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5415aaa6fe456c" /><Relationship Type="http://schemas.openxmlformats.org/officeDocument/2006/relationships/notesMaster" Target="/ppt/notesMasters/notesMaster1.xml" Id="R9137429414234e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53b655b87d4b01" /><Relationship Type="http://schemas.openxmlformats.org/officeDocument/2006/relationships/notesMaster" Target="/ppt/notesMasters/notesMaster1.xml" Id="R512d641c456249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Capa. Grupo informado anteriormente pelo usuário. Tema escolhido: Phaser. O código apresentado no deck está no repositório do grupo: https://github.com/JoaoGabrielOSdev/Tde-Matematica-aplicada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consultadas para o panorama: https://docs.phaser.io/ ; https://www.raylib.com/ ; https://love2d.org/ ; https://monogame.net/. A tabela resume o foco de cada opção para fins didáticos. A escolha do Phaser é uma decisão do grupo para este exemplo.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principal: https://docs.phaser.io/ . O fluxo é uma representação didática do que o código implementa. Fonte do exemplo: phaser/game.js no repositório do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 fluxo: estrutura da classe GeometryScene em phaser/game.js. A função preload() é apresentada como parte do ciclo comum do Phaser, mas o exemplo atual gera as texturas em create() para manter o projeto autocontido.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Trechos adaptados diretamente de phaser/game.js no repositório do grupo: https://github.com/JoaoGabrielOSdev/Tde-Matematica-aplicada. O código permanece editável no arquivo JavaScript.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editável criado a partir das entidades e posições definidas em phaser/game.js. Ele representa o funcionamento da fase e não é uma captura de tela.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implementação em phaser/game.js. Os conceitos foram relacionados aos recursos utilizados no exemplo: Phaser.Scene, Arcade Physics, input.keyboard, overlap, collider e tweens.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Encerramento. O repositório usado no trabalho é https://github.com/JoaoGabrielOSdev/Tde-Matematica-aplicada. Instruções completas de execução em phaser/README.md. O PDF deve ser enviado por todos os integrantes no AVA, conforme a atividade.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11c1c5b164c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5021d2fee74898" /><Relationship Type="http://schemas.openxmlformats.org/officeDocument/2006/relationships/slideLayout" Target="/ppt/slideLayouts/slideLayout1.xml" Id="Reef1bb084a2846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f1bb084a2846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210cd36014f1f" /><Relationship Type="http://schemas.openxmlformats.org/officeDocument/2006/relationships/notesSlide" Target="/ppt/notesSlides/notesSlide1.xml" Id="R467b4f5598c74d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5d23bced84ca5" /><Relationship Type="http://schemas.openxmlformats.org/officeDocument/2006/relationships/notesSlide" Target="/ppt/notesSlides/notesSlide2.xml" Id="R44cbe6d760a741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99e100db94ff6" /><Relationship Type="http://schemas.openxmlformats.org/officeDocument/2006/relationships/notesSlide" Target="/ppt/notesSlides/notesSlide3.xml" Id="Re9f503f306ed42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fb15e32774b6a" /><Relationship Type="http://schemas.openxmlformats.org/officeDocument/2006/relationships/notesSlide" Target="/ppt/notesSlides/notesSlide4.xml" Id="R82efd645f89b44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1b8cd2c5f4be5" /><Relationship Type="http://schemas.openxmlformats.org/officeDocument/2006/relationships/notesSlide" Target="/ppt/notesSlides/notesSlide5.xml" Id="R17919bebc17945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2b6a4cfe74ca7" /><Relationship Type="http://schemas.openxmlformats.org/officeDocument/2006/relationships/notesSlide" Target="/ppt/notesSlides/notesSlide6.xml" Id="R050c8620baa249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3949ada77457c" /><Relationship Type="http://schemas.openxmlformats.org/officeDocument/2006/relationships/notesSlide" Target="/ppt/notesSlides/notesSlide7.xml" Id="Rde4103df5bc448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162f43623439c" /><Relationship Type="http://schemas.openxmlformats.org/officeDocument/2006/relationships/hyperlink" Target="https://github.com/JoaoGabrielOSdev/Tde-Matematica-aplicada" TargetMode="External" Id="R517d9f2ec74f44c9" /><Relationship Type="http://schemas.openxmlformats.org/officeDocument/2006/relationships/notesSlide" Target="/ppt/notesSlides/notesSlide8.xml" Id="R75beeb871ab345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5A4F7-7982-464F-B137-2CF90646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A2720-AFC0-4B67-B76B-CBD1BC1E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B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F8789-5A97-4FA5-83D1-D9FFDC17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5B6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43147-14E8-4F5C-A9AB-F62FA40F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SEMINÁRIO · TDE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C7EFA-9CE1-4D01-B7D7-B1A0FE74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33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Framework Phaser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00D13-E53D-419D-97FD-D36B5DF5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Um exemplo de computação gráfica para jogos 2D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7485D-7DB7-4EDF-838D-7B6EABF9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095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8B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C775A-E553-4704-9E41-B57778EC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Geometria em 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F9143-2535-4995-9027-B053F468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Um jogo executado diretamente no navegador com JavaScript e Phaser 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E00D3-2100-4BF7-BE65-F38AF38D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INTEGRANTES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C715E-53E4-4724-8E09-E599D27F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André Filipe Coutinho Parente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Deryk Levy Feitosa Caldas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Enzo Almino de Lima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Felipe Rocha Alencar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João Gabriel Oliveira Silva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C4B1C-25C8-4861-9B3D-526D6270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483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COMPUTAÇÃO GRÁFICA</a:t>
            </a:r>
          </a:p>
        </p:txBody>
      </p:sp>
    </p:spTree>
    <p:extLst>
      <p:ext uri="{BB962C8B-B14F-4D97-AF65-F5344CB8AC3E}">
        <p14:creationId xmlns:p14="http://schemas.microsoft.com/office/powerpoint/2010/main" val="1179779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C5F09-FA27-4B2C-ADF5-9EBEFB8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O TEMA DENTRO DO SEMINÁRIO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AEA2E-0668-4BE4-BB51-A12DC388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Frameworks em comparação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8A6E6-838B-4F49-AE77-4497CE07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As quatro opções atendem a contextos diferentes de desenvolvimento de jogos.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809750"/>
                <a:gridCol w="2381250"/>
                <a:gridCol w="2095500"/>
                <a:gridCol w="2971800"/>
              </a:tblGrid>
              <a:tr h="55245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65B6FF"/>
                          </a:solidFill>
                          <a:latin typeface="Arial"/>
                          <a:ea typeface="Arial"/>
                          <a:cs typeface="Arial"/>
                        </a:rPr>
                        <a:t>Framework</a:t>
                      </a:r>
                    </a:p>
                  </a:txBody>
                  <a:tcPr marL="91440" marR="91440" marT="45720" marB="45720" anchor="ctr">
                    <a:solidFill>
                      <a:srgbClr val="1B2B4B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65B6FF"/>
                          </a:solidFill>
                          <a:latin typeface="Arial"/>
                          <a:ea typeface="Arial"/>
                          <a:cs typeface="Arial"/>
                        </a:rPr>
                        <a:t>Linguagem</a:t>
                      </a:r>
                    </a:p>
                  </a:txBody>
                  <a:tcPr marL="91440" marR="91440" marT="45720" marB="45720" anchor="ctr">
                    <a:solidFill>
                      <a:srgbClr val="1B2B4B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65B6FF"/>
                          </a:solidFill>
                          <a:latin typeface="Arial"/>
                          <a:ea typeface="Arial"/>
                          <a:cs typeface="Arial"/>
                        </a:rPr>
                        <a:t>Foco principal</a:t>
                      </a:r>
                    </a:p>
                  </a:txBody>
                  <a:tcPr marL="91440" marR="91440" marT="45720" marB="45720" anchor="ctr">
                    <a:solidFill>
                      <a:srgbClr val="1B2B4B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65B6FF"/>
                          </a:solidFill>
                          <a:latin typeface="Arial"/>
                          <a:ea typeface="Arial"/>
                          <a:cs typeface="Arial"/>
                        </a:rPr>
                        <a:t>Execução</a:t>
                      </a:r>
                    </a:p>
                  </a:txBody>
                  <a:tcPr marL="91440" marR="91440" marT="45720" marB="45720" anchor="ctr">
                    <a:solidFill>
                      <a:srgbClr val="1B2B4B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65B6FF"/>
                          </a:solidFill>
                          <a:latin typeface="Arial"/>
                          <a:ea typeface="Arial"/>
                          <a:cs typeface="Arial"/>
                        </a:rPr>
                        <a:t>Perfil do projeto</a:t>
                      </a:r>
                    </a:p>
                  </a:txBody>
                  <a:tcPr marL="91440" marR="91440" marT="45720" marB="45720" anchor="ctr">
                    <a:solidFill>
                      <a:srgbClr val="1B2B4B"/>
                    </a:solidFill>
                  </a:tcPr>
                </a:tc>
              </a:tr>
              <a:tr h="55245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D166"/>
                          </a:solidFill>
                          <a:latin typeface="Arial"/>
                          <a:ea typeface="Arial"/>
                          <a:cs typeface="Arial"/>
                        </a:rPr>
                        <a:t>Phaser</a:t>
                      </a:r>
                    </a:p>
                  </a:txBody>
                  <a:tcPr marL="91440" marR="91440" marT="45720" marB="45720" anchor="ctr">
                    <a:solidFill>
                      <a:srgbClr val="182B49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JavaScript / TypeScript</a:t>
                      </a:r>
                    </a:p>
                  </a:txBody>
                  <a:tcPr marL="91440" marR="91440" marT="45720" marB="45720" anchor="ctr">
                    <a:solidFill>
                      <a:srgbClr val="182B49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Jogos 2D para a web</a:t>
                      </a:r>
                    </a:p>
                  </a:txBody>
                  <a:tcPr marL="91440" marR="91440" marT="45720" marB="45720" anchor="ctr">
                    <a:solidFill>
                      <a:srgbClr val="182B49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Navegador</a:t>
                      </a:r>
                    </a:p>
                  </a:txBody>
                  <a:tcPr marL="91440" marR="91440" marT="45720" marB="45720" anchor="ctr">
                    <a:solidFill>
                      <a:srgbClr val="182B49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Prototipagem e experiências web</a:t>
                      </a:r>
                    </a:p>
                  </a:txBody>
                  <a:tcPr marL="91440" marR="91440" marT="45720" marB="45720" anchor="ctr">
                    <a:solidFill>
                      <a:srgbClr val="182B49"/>
                    </a:solidFill>
                  </a:tcPr>
                </a:tc>
              </a:tr>
              <a:tr h="55245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Raylib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Jogos 2D e 3D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Desktop e outras plataformas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Controle direto e baixo nível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55245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LÖVE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Lua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Jogos 2D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Desktop e web via extensões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Leve e didático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55245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MonoGame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C#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Jogos 2D e 3D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Desktop e consoles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Projetos com controle do código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EC6E5-B593-4CFA-A270-64D8EAD0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82B49"/>
          </a:solidFill>
          <a:ln xmlns:a="http://schemas.openxmlformats.org/drawingml/2006/main" w="9525">
            <a:solidFill>
              <a:srgbClr val="65B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B6FF8-901C-4759-86CE-F5BE4602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Escolha do grupo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27FFD-C4FE-48FA-B72F-A6522148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Phaser: o exemplo pode ser executado diretamente no navegador e mostra, em poucos arquivos, os principais elementos de um jogo 2D.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AA168-C8D0-4FED-9AE5-1AA53D29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95116-1C68-4CFD-AF1E-46C48F00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TDE 02 · COMPUTAÇÃO GRÁFICA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81AAB-D350-4BB9-8625-5986AC04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49770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C8644-AAD4-4A01-A7BE-AAA3058F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A BIBLIOTECA ESCOLHIDA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FF0E2-A0E6-40C4-AA9A-43B33427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Phaser em 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63CB0-9495-411C-B684-F76F3234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Um framework HTML5 que organiza a lógica do jogo e conversa com o navegador.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0597F-10A8-4AAC-8228-8E537DB7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3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O Phaser fornece uma estrutura pronta para criar jogos em JavaScript. A aplicação define uma cena, recebe entradas do jogador, atualiza o estado e renderiza o resultado no canvas.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D4580-3B42-4FD4-998F-36712DB7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No projeto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6D13E-561D-474F-869B-D55BDA87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Phaser.AUTO escolhe o renderizador disponível. A física Arcade movimenta corpos e verifica colisões.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55417-8B2D-40B1-8567-77F00F96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23812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33D"/>
          </a:solidFill>
          <a:ln xmlns:a="http://schemas.openxmlformats.org/drawingml/2006/main" w="19050">
            <a:solidFill>
              <a:srgbClr val="65B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9494E-6B5E-43DC-99E5-BE699F1B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1D64B-26AB-4502-AE8A-97D7DB49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Teclado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0090A-82A0-4634-9095-A8207308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76450"/>
            <a:ext cx="23812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33D"/>
          </a:solidFill>
          <a:ln xmlns:a="http://schemas.openxmlformats.org/drawingml/2006/main" w="19050">
            <a:solidFill>
              <a:srgbClr val="A2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5B540-DA51-456D-9722-A64D5CDF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479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2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28BFF"/>
                </a:solidFill>
                <a:latin typeface="Arial"/>
                <a:ea typeface="Arial"/>
                <a:cs typeface="Arial"/>
              </a:rPr>
              <a:t>CENA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D0B2F-D06E-4556-A2C2-D193E52E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GeometryScene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67ECC-9D18-46C0-BB68-5A6B7CCD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23812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33D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D5C1B-1261-4E4C-A21E-D0A749FC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86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FÍSICA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E844E-7620-4909-8119-CD380D77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814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Arcade Physics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8B3E3-A2E6-47D8-9971-8E9480CD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14750"/>
            <a:ext cx="23812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33D"/>
          </a:solidFill>
          <a:ln xmlns:a="http://schemas.openxmlformats.org/drawingml/2006/main" w="19050">
            <a:solidFill>
              <a:srgbClr val="8FF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F8019-5CEA-4BF0-947D-4B6EFC78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FF0C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FF0C1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D95AF-06D7-44E0-9C85-92D31B0A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814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Canvas / WebGL</a:t>
            </a:r>
          </a:p>
        </p:txBody>
      </p: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7696200" y="2590800"/>
            <a:ext cx="19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3A5B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886825" y="310515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3A5B"/>
            </a:solidFill>
            <a:prstDash val="solid"/>
            <a:head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7696200" y="4229100"/>
            <a:ext cx="19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3A5B"/>
            </a:solidFill>
            <a:prstDash val="solid"/>
            <a:head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524625" y="310515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3A5B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A92F8-8215-4097-A0CA-2AE34F72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A1A23-7DBE-4B64-9F98-27CCCE94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TDE 02 · COMPUTAÇÃO GRÁFICA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1B300-44A7-444D-8CA6-9A8E7836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1494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88C0F-933F-4170-9FF7-3C01F919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ORGANIZAÇÃO DO 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EDFA2-9BFB-4DBA-BB0E-7E83847D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Estrutura de uma cena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BF030-6701-4054-ADDF-A64A5477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O ciclo da cena separa preparação, criação da fase e atualização contínua.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B67BD-AC8A-47FF-A587-4E5AF913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A8BAC-4A41-4439-B89D-9BAE6B65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5B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4452B-BA40-4378-A0D7-6E4FB55A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preload()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237F8-74DF-43B0-A6EF-E57DECF4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Carrega imagens, sons e outros assets quando o projeto precisa deles.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DB10F-65CF-48B3-A4D4-7ABD79CB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621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A28B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A28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F5185-700E-456A-AFBF-68A6C334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146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28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7DF52-A425-4F9D-BA7A-3F8F06F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create()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228E3-9CA2-47DB-8EBB-ABDBFBD0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Monta a arena, cria o jogador, obstáculos, fragmentos, portal e inimigos.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055C3-64DD-4CB3-B669-3CF92834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6A8B2-5600-41D4-A9E1-676F9865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E6AA1-591A-40B5-BC43-90F1A096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update()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3A193-A6AB-4F06-B4AE-56512E4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04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Lê o teclado a cada frame e atualiza a velocidade e a posição do jogador.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150CF-201F-4C46-87F7-9511EE5A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C1655-47B6-4C69-9FC7-37F6220F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No exemplo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9FAF3-23B1-4E98-A3AB-FD94534A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720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Como os gráficos são desenhados pelo próprio código, o projeto não precisa de uma pasta de imagens para iniciar a demonstração.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123CF-46CF-42D5-928F-CDFF95DA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6370B-4569-4B53-B764-999D82D7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TDE 02 · COMPUTAÇÃO GRÁFICA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995E8-7CCD-4CB9-8EF0-6864AFEE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2758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E9BB9-DB76-4824-8FEA-892D02F8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CÓDIGO DO REPOSITÓRIO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F187E-F222-4CF3-974B-DF49B903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Código central do exemplo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57F60-C50F-4F6B-9C83-2A3FD3B4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Poucas linhas conectam a configuração do jogo à interação com os objetos.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2A2AB-5E59-4604-A16A-40207B2B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CONFIGURAÇÃO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05EFD-372B-4C75-AFA8-36E019C6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1435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E172A"/>
          </a:solidFill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CC1E1-8E89-4FEE-92E9-072EC438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667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const config =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  type: Phaser.AUTO,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  physics: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    default: "arcade",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    arcade: { gravity: { y: 0 }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  },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  scene: [GeometryScene]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new Phaser.Game(config);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94689-F6C1-413D-9B00-28483115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2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28BFF"/>
                </a:solidFill>
                <a:latin typeface="Arial"/>
                <a:ea typeface="Arial"/>
                <a:cs typeface="Arial"/>
              </a:rPr>
              <a:t>COLISÃO E COLETA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2E93A-E03E-42C2-BABE-FCE22E10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529590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0E172A"/>
          </a:solidFill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8AFD0-2F11-41B5-9C70-07EC0D2F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4857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69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this.physics.add.overlap(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  this.player,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  this.fragments,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  this.collectFragment,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  undefined,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  this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01A32-8CED-430D-ABF3-249BCE84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O callback desativa o fragmento, atualiza a pontuação e libera o portal depois da última coleta.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85BA7-B1F8-4C55-AD82-0AA2CFFA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F7E6D-A67A-47FA-A6F1-A5C8075E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TDE 02 · COMPUTAÇÃO GRÁFICA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0B598-BDB2-48C8-8525-54F1C733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8661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C020AB-73DC-4B4F-B2CD-5F9DC34D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APLICAÇÃO DESENVOLVIDA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23960-F2E1-4CAB-8190-E9DF822F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Geometria em 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791C7-4507-45A4-A69E-04F1846E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Uma fase curta transforma conceitos do framework em uma interação que pode ser testada.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A137C-457F-4194-8BC6-0103462F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3342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72B"/>
          </a:solidFill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DEED-7C83-4F01-ACB4-630A898B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9623C-4AF8-4A12-9F8E-D67EC40F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AC12C-3AD8-4625-9232-C3033F9D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A624E-FE32-4B1B-8A4F-80F355B4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3225B-CBC6-4658-8F81-47BB1838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E1E80-ACE6-4B11-BBF2-8096F408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3905A-75B3-49CD-BB47-7D81ECC6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AB03E-A145-4E5B-9D80-4F9BF8E6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EEB26-FCC0-4DB6-AAB4-21D71A90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B08C3-9D5D-46AA-A184-CCCCC05A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EE4BD-3CAC-4192-BE2C-A519FD2E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40869-6A52-4FA1-AD1C-05AA8C3D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6B71F-8820-402A-9316-A11C8F5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66C12-0F1C-4A6C-B9E9-A15ECAAE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44338-EF0D-47BF-8E0D-76F675EB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36F9A-85AC-4423-ABC0-12D4C3ED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57A52-409D-4992-91FE-1E16CAC3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DF29B-3026-4F24-A348-576CA023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D9D19-9355-4209-875D-77BDBAF9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1A7C5-A543-414C-8F73-4E35C386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C91E9D-84AA-46F2-9078-8B313A3C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1D5D5-C8A0-4190-AE33-2D228746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E94D3-1493-4B2D-9D96-6B5C866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398FD6-24CB-4DE2-AE22-9AEF163A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28374-31C8-4C8A-BAEF-DF23F3F8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89AE6E-57D3-46B4-99C6-541D50CF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E52738-2008-4310-8DAF-DB0F8CF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B4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D05C75-42FA-4182-9D54-D9C902DA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241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D63"/>
          </a:solidFill>
          <a:ln xmlns:a="http://schemas.openxmlformats.org/drawingml/2006/main" w="9525">
            <a:solidFill>
              <a:srgbClr val="5270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A8B078-F13F-4D05-A2DD-2CB5B1B7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241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D63"/>
          </a:solidFill>
          <a:ln xmlns:a="http://schemas.openxmlformats.org/drawingml/2006/main" w="9525">
            <a:solidFill>
              <a:srgbClr val="52709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D24BE5-B1CF-41C5-B3B9-40913E95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719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D63"/>
          </a:solidFill>
          <a:ln xmlns:a="http://schemas.openxmlformats.org/drawingml/2006/main" w="9525">
            <a:solidFill>
              <a:srgbClr val="52709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D76191-FC6A-419D-AB34-CC902D45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D63"/>
          </a:solidFill>
          <a:ln xmlns:a="http://schemas.openxmlformats.org/drawingml/2006/main" w="9525">
            <a:solidFill>
              <a:srgbClr val="52709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35C388-A690-4690-A9D0-C29F1864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133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D63"/>
          </a:solidFill>
          <a:ln xmlns:a="http://schemas.openxmlformats.org/drawingml/2006/main" w="9525">
            <a:solidFill>
              <a:srgbClr val="52709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37AE8B-95BC-4707-B7E0-DF3F5DAD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F0B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8C3311-879D-4F7B-9A3E-76080074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F0B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D1DB0A-BC79-4B17-BF58-988B40A5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F0B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FF21B1-AC94-4807-9EDC-428C25B7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F0B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75794E-03B9-4108-8D08-2DA9EB16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F0B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E98CA2-5E5A-4E23-BBF3-CB045CEE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F0B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15150C-D6DE-4149-BFE1-58425840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F0B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8251B0-5B0A-4BBF-BBA9-BCFAB965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F0B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EA7805-550D-4EE3-9D92-486789EE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6FF"/>
          </a:solidFill>
          <a:ln xmlns:a="http://schemas.openxmlformats.org/drawingml/2006/main" w="9525">
            <a:solidFill>
              <a:srgbClr val="F7FA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1D3B75-BF37-4FBD-A65C-EEF1478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7FA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933E05-0C6E-4BFB-B21F-653FF14A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860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7FA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647DE8-E09B-4CCF-8140-8856B681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7FA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F68EB9-4DAC-4DA2-90AB-11821F53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1455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8B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E24284-E38A-43F3-B15D-B0905BAD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jogador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C6DEF7-6AD2-4706-9FBD-52A37E71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fragmentos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3F898C-0D6C-41D3-8EEA-EBDC3073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2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28BFF"/>
                </a:solidFill>
                <a:latin typeface="Arial"/>
                <a:ea typeface="Arial"/>
                <a:cs typeface="Arial"/>
              </a:rPr>
              <a:t>portal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32ADEE-9F56-45C8-BC87-C9BAFA7C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Objetivo da fase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7B628F-E4DF-4F53-9786-6C8C225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DA41E8-5C6B-45D1-A7D5-D74F5BD1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Colete os oito fragmentos amarelos.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Evite os inimigos vermelhos.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Entre no portal roxo para concluir.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7E84DA-1E68-4783-8183-4F197119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A arena usa formas geométricas simples para deixar o funcionamento visual e fácil de explicar durante o seminário.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C9B617-81AE-450E-B3C6-AD93ADCF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DCF9D2-9308-48C2-BC77-14540068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TDE 02 · COMPUTAÇÃO GRÁFICA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A079D5-06A8-42EA-ADE8-1689F91D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060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7BFD4-5935-4504-BAF4-1752D1A9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LEITURA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F77FC-1C3B-4E54-9999-CFF09EA0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Conceitos demonstrados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E8487-0897-41E9-9DA2-5F394ED2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O exemplo cobre o caminho completo entre entrada do usuário, cálculo e saída visual.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429000"/>
                <a:gridCol w="5162550"/>
              </a:tblGrid>
              <a:tr h="5715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65B6FF"/>
                          </a:solidFill>
                          <a:latin typeface="Arial"/>
                          <a:ea typeface="Arial"/>
                          <a:cs typeface="Arial"/>
                        </a:rPr>
                        <a:t>Conceito</a:t>
                      </a:r>
                    </a:p>
                  </a:txBody>
                  <a:tcPr marL="91440" marR="91440" marT="45720" marB="45720" anchor="ctr">
                    <a:solidFill>
                      <a:srgbClr val="1B2B4B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65B6FF"/>
                          </a:solidFill>
                          <a:latin typeface="Arial"/>
                          <a:ea typeface="Arial"/>
                          <a:cs typeface="Arial"/>
                        </a:rPr>
                        <a:t>Onde aparece</a:t>
                      </a:r>
                    </a:p>
                  </a:txBody>
                  <a:tcPr marL="91440" marR="91440" marT="45720" marB="45720" anchor="ctr">
                    <a:solidFill>
                      <a:srgbClr val="1B2B4B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65B6FF"/>
                          </a:solidFill>
                          <a:latin typeface="Arial"/>
                          <a:ea typeface="Arial"/>
                          <a:cs typeface="Arial"/>
                        </a:rPr>
                        <a:t>O que acontece</a:t>
                      </a:r>
                    </a:p>
                  </a:txBody>
                  <a:tcPr marL="91440" marR="91440" marT="45720" marB="45720" anchor="ctr">
                    <a:solidFill>
                      <a:srgbClr val="1B2B4B"/>
                    </a:solidFill>
                  </a:tcPr>
                </a:tc>
              </a:tr>
              <a:tr h="5715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Renderização 2D</a:t>
                      </a:r>
                    </a:p>
                  </a:txBody>
                  <a:tcPr marL="91440" marR="91440" marT="45720" marB="45720" anchor="ctr">
                    <a:solidFill>
                      <a:srgbClr val="142039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AAB7CC"/>
                          </a:solidFill>
                          <a:latin typeface="Arial"/>
                          <a:ea typeface="Arial"/>
                          <a:cs typeface="Arial"/>
                        </a:rPr>
                        <a:t>Texturas e formas</a:t>
                      </a:r>
                    </a:p>
                  </a:txBody>
                  <a:tcPr marL="91440" marR="91440" marT="45720" marB="45720" anchor="ctr">
                    <a:solidFill>
                      <a:srgbClr val="142039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AAB7CC"/>
                          </a:solidFill>
                          <a:latin typeface="Arial"/>
                          <a:ea typeface="Arial"/>
                          <a:cs typeface="Arial"/>
                        </a:rPr>
                        <a:t>O canvas exibe jogador, itens, obstáculos e HUD.</a:t>
                      </a:r>
                    </a:p>
                  </a:txBody>
                  <a:tcPr marL="91440" marR="91440" marT="45720" marB="45720" anchor="ctr">
                    <a:solidFill>
                      <a:srgbClr val="142039"/>
                    </a:solidFill>
                  </a:tcPr>
                </a:tc>
              </a:tr>
              <a:tr h="5715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Entrada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AAB7CC"/>
                          </a:solidFill>
                          <a:latin typeface="Arial"/>
                          <a:ea typeface="Arial"/>
                          <a:cs typeface="Arial"/>
                        </a:rPr>
                        <a:t>Setas e W/A/S/D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AAB7CC"/>
                          </a:solidFill>
                          <a:latin typeface="Arial"/>
                          <a:ea typeface="Arial"/>
                          <a:cs typeface="Arial"/>
                        </a:rPr>
                        <a:t>O teclado altera a velocidade do jogador em cada atualização.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5715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Física Arcade</a:t>
                      </a:r>
                    </a:p>
                  </a:txBody>
                  <a:tcPr marL="91440" marR="91440" marT="45720" marB="45720" anchor="ctr">
                    <a:solidFill>
                      <a:srgbClr val="142039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AAB7CC"/>
                          </a:solidFill>
                          <a:latin typeface="Arial"/>
                          <a:ea typeface="Arial"/>
                          <a:cs typeface="Arial"/>
                        </a:rPr>
                        <a:t>Corpos e limites</a:t>
                      </a:r>
                    </a:p>
                  </a:txBody>
                  <a:tcPr marL="91440" marR="91440" marT="45720" marB="45720" anchor="ctr">
                    <a:solidFill>
                      <a:srgbClr val="142039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AAB7CC"/>
                          </a:solidFill>
                          <a:latin typeface="Arial"/>
                          <a:ea typeface="Arial"/>
                          <a:cs typeface="Arial"/>
                        </a:rPr>
                        <a:t>O jogo aplica movimento sem gravidade e respeita as bordas.</a:t>
                      </a:r>
                    </a:p>
                  </a:txBody>
                  <a:tcPr marL="91440" marR="91440" marT="45720" marB="45720" anchor="ctr">
                    <a:solidFill>
                      <a:srgbClr val="142039"/>
                    </a:solidFill>
                  </a:tcPr>
                </a:tc>
              </a:tr>
              <a:tr h="5715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Colisões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AAB7CC"/>
                          </a:solidFill>
                          <a:latin typeface="Arial"/>
                          <a:ea typeface="Arial"/>
                          <a:cs typeface="Arial"/>
                        </a:rPr>
                        <a:t>Obstáculos e inimigos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AAB7CC"/>
                          </a:solidFill>
                          <a:latin typeface="Arial"/>
                          <a:ea typeface="Arial"/>
                          <a:cs typeface="Arial"/>
                        </a:rPr>
                        <a:t>O jogador bloqueia em paredes e perde vida ao tocar um inimigo.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5715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7FAFF"/>
                          </a:solidFill>
                          <a:latin typeface="Arial"/>
                          <a:ea typeface="Arial"/>
                          <a:cs typeface="Arial"/>
                        </a:rPr>
                        <a:t>Animação</a:t>
                      </a:r>
                    </a:p>
                  </a:txBody>
                  <a:tcPr marL="91440" marR="91440" marT="45720" marB="45720" anchor="ctr">
                    <a:solidFill>
                      <a:srgbClr val="142039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AAB7CC"/>
                          </a:solidFill>
                          <a:latin typeface="Arial"/>
                          <a:ea typeface="Arial"/>
                          <a:cs typeface="Arial"/>
                        </a:rPr>
                        <a:t>Tweens</a:t>
                      </a:r>
                    </a:p>
                  </a:txBody>
                  <a:tcPr marL="91440" marR="91440" marT="45720" marB="45720" anchor="ctr">
                    <a:solidFill>
                      <a:srgbClr val="142039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AAB7CC"/>
                          </a:solidFill>
                          <a:latin typeface="Arial"/>
                          <a:ea typeface="Arial"/>
                          <a:cs typeface="Arial"/>
                        </a:rPr>
                        <a:t>Fragmentos flutuam, inimigos giram e o portal pulsa quando é ativado.</a:t>
                      </a:r>
                    </a:p>
                  </a:txBody>
                  <a:tcPr marL="91440" marR="91440" marT="45720" marB="45720" anchor="ctr">
                    <a:solidFill>
                      <a:srgbClr val="1420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1AC10-1C1A-48A1-9539-09810836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FF0C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FF0C1"/>
                </a:solidFill>
                <a:latin typeface="Arial"/>
                <a:ea typeface="Arial"/>
                <a:cs typeface="Arial"/>
              </a:rPr>
              <a:t>Resultado: uma demonstração pequena, mas suficiente para mostrar como o Phaser reduz o trabalho de infraestrutura e deixa a lógica do jogo em evidência.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480CE-8D87-45E1-ADBE-8BB98F2B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872C6-5C9A-48EB-BFCE-99ED4A86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TDE 02 · COMPUTAÇÃO GRÁFICA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7752A-D7B9-49B0-B09B-12EA8D78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1641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621EB-FE23-4ABF-921F-C2432725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ENTREGA DO GRUPO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D083D-A3FE-46D7-B734-232ACDA1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Como executar e concluir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BB4A2-4830-432D-A13E-51F19C2C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O código e os slides atendem aos dois entregáveis pedidos na atividade.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5C9B6-D925-4AF6-9B71-39518E78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EXECUTAR O EXEMPLO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3A057-EB78-437F-80C8-13CAE33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3340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0E172A"/>
          </a:solidFill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78FE1-4190-4592-81F1-9BD5CBD3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1  cd phaser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2  python3 -m http.server 8080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D9E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9E7FF"/>
                </a:solidFill>
                <a:latin typeface="Arial"/>
                <a:ea typeface="Arial"/>
                <a:cs typeface="Arial"/>
              </a:rPr>
              <a:t>3  abrir http://localhost:8080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1F946-772A-4B66-820F-EB87645B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2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28BFF"/>
                </a:solidFill>
                <a:latin typeface="Arial"/>
                <a:ea typeface="Arial"/>
                <a:cs typeface="Arial"/>
              </a:rPr>
              <a:t>ENTREGÁVEIS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B5C8F-43BF-4EE5-97AB-E6D7927D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Código de exemplo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FF8E8-558B-47E7-806B-5012809E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Pasta phaser/ no repositório Git, com game.js e instruções no README.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DE144-DBE5-404C-90FA-9478E072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7FAFF"/>
                </a:solidFill>
                <a:latin typeface="Arial"/>
                <a:ea typeface="Arial"/>
                <a:cs typeface="Arial"/>
              </a:rPr>
              <a:t>Slides em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ACF8E-223D-4732-BE57-E680ECFC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Enviar este arquivo no AVA. Cada integrante deve anexar o mesmo PDF.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68792-2DFA-4DF8-BCE1-45F92966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REPOSITÓRIO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D9C30-281C-464E-B949-BEADF424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5B6FF"/>
                </a:solidFill>
                <a:latin typeface="Arial"/>
                <a:ea typeface="Arial"/>
                <a:cs typeface="Arial"/>
                <a:hlinkClick xmlns:r="http://schemas.openxmlformats.org/officeDocument/2006/relationships" r:id="R517d9f2ec74f44c9"/>
              </a:rPr>
              <a:t>https://github.com/JoaoGabrielOSdev/Tde-Matematica-aplicada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6ECB2-17CC-4A32-BA26-F74C9284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D166"/>
                </a:solidFill>
                <a:latin typeface="Arial"/>
                <a:ea typeface="Arial"/>
                <a:cs typeface="Arial"/>
              </a:rPr>
              <a:t>Obrigado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FCA64-A0C6-4A1F-80AB-7424B2D1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A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74950-C347-45BE-BDF5-C379FCC6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AB7C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CC"/>
                </a:solidFill>
                <a:latin typeface="Arial"/>
                <a:ea typeface="Arial"/>
                <a:cs typeface="Arial"/>
              </a:rPr>
              <a:t>TDE 02 · COMPUTAÇÃO GRÁFICA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AE9A3-69A0-4372-B733-52C9326C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5B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5B6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378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2026-09-18T01:01:27.1720000Z</dcterms:created>
  <dcterms:modified xsi:type="dcterms:W3CDTF">2026-09-18T01:01:27.1720000Z</dcterms:modified>
</coreProperties>
</file>